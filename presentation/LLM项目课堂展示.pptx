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406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32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开源大语言模型性能演进与架构特征分析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13232" y="196596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本地数据处理 · KNN 插补 · 归一化 · 五类可视化证据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366760" y="713232"/>
            <a:ext cx="260604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41080" y="10789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数据对象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41080" y="14173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32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2024-2026 LLM 基准、Elo、架构与硬件延迟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41080" y="24963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处理重点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41080" y="28346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32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参数修正、Elo 插补、Min-Max 归一化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41080" y="39136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展示方式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41080" y="42519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32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本地网页 + 中文 PPT + PNG 图表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6528816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A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开源大模型性能演进可视化分析 · 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数据处理与可视化课程项目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32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数据处理流程与特征工程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993392"/>
            <a:ext cx="2331720" cy="2240280"/>
          </a:xfrm>
          <a:prstGeom prst="rect">
            <a:avLst/>
          </a:prstGeom>
          <a:solidFill>
            <a:srgbClr val="ECFDF5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212848"/>
            <a:ext cx="411480" cy="41148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9264" y="27614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异常识别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9264" y="32461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参数量 -1/空值 → 从模型名提取 7B/72B 等信息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118104" y="2926080"/>
            <a:ext cx="384048" cy="384048"/>
          </a:xfrm>
          <a:prstGeom prst="chevron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02152" y="1993392"/>
            <a:ext cx="2331720" cy="2240280"/>
          </a:xfrm>
          <a:prstGeom prst="rect">
            <a:avLst/>
          </a:prstGeom>
          <a:solidFill>
            <a:srgbClr val="F1F5F9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5032" y="2212848"/>
            <a:ext cx="411480" cy="41148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58184" y="27614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KNN 插补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58184" y="32461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用六类客观基准估算缺失的 Chatbot Arena Elo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07024" y="2926080"/>
            <a:ext cx="384048" cy="384048"/>
          </a:xfrm>
          <a:prstGeom prst="chevron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91072" y="1993392"/>
            <a:ext cx="2331720" cy="2240280"/>
          </a:xfrm>
          <a:prstGeom prst="rect">
            <a:avLst/>
          </a:prstGeom>
          <a:solidFill>
            <a:srgbClr val="ECFDF5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2212848"/>
            <a:ext cx="411480" cy="41148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47104" y="27614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归一化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47104" y="32461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 GPQA、IFEval、MATH 等投射到统一尺度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695944" y="2926080"/>
            <a:ext cx="384048" cy="384048"/>
          </a:xfrm>
          <a:prstGeom prst="chevron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79992" y="1993392"/>
            <a:ext cx="2331720" cy="2240280"/>
          </a:xfrm>
          <a:prstGeom prst="rect">
            <a:avLst/>
          </a:prstGeom>
          <a:solidFill>
            <a:srgbClr val="F1F5F9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62872" y="2212848"/>
            <a:ext cx="411480" cy="41148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36024" y="27614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复合指标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36024" y="32461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构造参数效率与 Hardware Pareto Index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51560" y="50749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输出物：清洗后 CSV、5 张中文 PNG 可视化图片、本地网页与课堂展示 PPT。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02920" y="6528816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A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开源大模型性能演进可视化分析 ·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数据处理与可视化课程项目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32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证据 1：缩放定律与参数效率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pic>
        <p:nvPicPr>
          <p:cNvPr id="5" name="Image 0" descr="C:\Users\HBZuo\Desktop\wrokmean\数据可视化\dashboard\assets\figures\01_scaling_bub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17320"/>
            <a:ext cx="763524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58200" y="1417320"/>
            <a:ext cx="2880360" cy="4526280"/>
          </a:xfrm>
          <a:prstGeom prst="rect">
            <a:avLst/>
          </a:prstGeom>
          <a:solidFill>
            <a:srgbClr val="F7FAF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32520" y="1737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课堂讲解要点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732520" y="2313432"/>
            <a:ext cx="118872" cy="1188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51976" y="22402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32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log 参数轴处理长尾分布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732520" y="2843784"/>
            <a:ext cx="118872" cy="1188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51976" y="27706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32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趋势线显示边际收益趋缓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732520" y="3374136"/>
            <a:ext cx="118872" cy="1188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51976" y="33009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32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小模型通过微调获得高能力密度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02920" y="6528816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A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开源大模型性能演进可视化分析 ·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数据处理与可视化课程项目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32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证据 2：能力轮廓与偏科检测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pic>
        <p:nvPicPr>
          <p:cNvPr id="5" name="Image 0" descr="C:\Users\HBZuo\Desktop\wrokmean\数据可视化\dashboard\assets\figures\02_radar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17320"/>
            <a:ext cx="763524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58200" y="1417320"/>
            <a:ext cx="2880360" cy="4526280"/>
          </a:xfrm>
          <a:prstGeom prst="rect">
            <a:avLst/>
          </a:prstGeom>
          <a:solidFill>
            <a:srgbClr val="F7FAF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32520" y="1737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课堂讲解要点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732520" y="2313432"/>
            <a:ext cx="118872" cy="1188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51976" y="22402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32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7B-9B 模型横向比较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732520" y="2843784"/>
            <a:ext cx="118872" cy="1188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51976" y="27706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32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GPQA/MATH 放大真实差距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732520" y="3374136"/>
            <a:ext cx="118872" cy="1188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51976" y="33009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32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均值线提供课堂解读参照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02920" y="6528816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A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开源大模型性能演进可视化分析 ·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数据处理与可视化课程项目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32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证据 3：架构生态与训练范式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pic>
        <p:nvPicPr>
          <p:cNvPr id="5" name="Image 0" descr="C:\Users\HBZuo\Desktop\wrokmean\数据可视化\dashboard\assets\figures\03_architecture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17320"/>
            <a:ext cx="763524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58200" y="1417320"/>
            <a:ext cx="2880360" cy="4526280"/>
          </a:xfrm>
          <a:prstGeom prst="rect">
            <a:avLst/>
          </a:prstGeom>
          <a:solidFill>
            <a:srgbClr val="F7FAF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32520" y="1737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课堂讲解要点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732520" y="2313432"/>
            <a:ext cx="118872" cy="1188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51976" y="22402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32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底层架构呈现收敛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732520" y="2843784"/>
            <a:ext cx="118872" cy="1188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51976" y="27706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32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微调、蒸馏和 MoE 推动二次开发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732520" y="3374136"/>
            <a:ext cx="118872" cy="1188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51976" y="33009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32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热力矩阵同时表达类别与强度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02920" y="6528816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A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开源大模型性能演进可视化分析 ·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数据处理与可视化课程项目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32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证据 4：偏好相关性与硬件帕累托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pic>
        <p:nvPicPr>
          <p:cNvPr id="5" name="Image 0" descr="C:\Users\HBZuo\Desktop\wrokmean\数据可视化\dashboard\assets\figures\04_correlat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17320"/>
            <a:ext cx="763524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58200" y="1417320"/>
            <a:ext cx="2880360" cy="4526280"/>
          </a:xfrm>
          <a:prstGeom prst="rect">
            <a:avLst/>
          </a:prstGeom>
          <a:solidFill>
            <a:srgbClr val="F7FAF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32520" y="1737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课堂讲解要点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732520" y="2313432"/>
            <a:ext cx="118872" cy="1188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51976" y="22402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32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Elo 与客观测试存在评估鸿沟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732520" y="2843784"/>
            <a:ext cx="118872" cy="1188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51976" y="27706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32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指令遵循更贴近日常体验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732520" y="3374136"/>
            <a:ext cx="118872" cy="1188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51976" y="33009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32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延迟指标解释部署体验损耗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02920" y="6528816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A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开源大模型性能演进可视化分析 ·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数据处理与可视化课程项目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32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课堂结论：从刷榜到可部署能力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08760"/>
            <a:ext cx="10287000" cy="713232"/>
          </a:xfrm>
          <a:prstGeom prst="rect">
            <a:avLst/>
          </a:prstGeom>
          <a:solidFill>
            <a:srgbClr val="ECFDF5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6733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能力密度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14600" y="1673352"/>
            <a:ext cx="8092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32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高质量数据微调让 7B-9B 模型逼近更大模型的可用体验。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2560320"/>
            <a:ext cx="1028700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72491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架构收敛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14600" y="2724912"/>
            <a:ext cx="8092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32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开源生态在 Llama/Qwen 等底座上进行二次开发，创新转向微调、蒸馏与融合。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3611880"/>
            <a:ext cx="10287000" cy="713232"/>
          </a:xfrm>
          <a:prstGeom prst="rect">
            <a:avLst/>
          </a:prstGeom>
          <a:solidFill>
            <a:srgbClr val="ECFDF5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37764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评估鸿沟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14600" y="3776472"/>
            <a:ext cx="8092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32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客观基准与人类 Elo 并非完全一致，指令遵循与响应延迟更贴近日常使用。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22960" y="4663440"/>
            <a:ext cx="1028700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48280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本地部署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14600" y="4828032"/>
            <a:ext cx="8092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32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高吞吐、低延迟的小模型降低端侧应用门槛，推动算力平民化。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02920" y="6528816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A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开源大模型性能演进可视化分析 · 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课程项目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LLM项目课堂展示</dc:title>
  <dc:subject>开源大语言模型性能演进与架构特征可视化分析</dc:subject>
  <dc:creator>Codex</dc:creator>
  <cp:lastModifiedBy>Codex</cp:lastModifiedBy>
  <cp:revision>1</cp:revision>
  <dcterms:created xsi:type="dcterms:W3CDTF">2026-06-05T09:11:26Z</dcterms:created>
  <dcterms:modified xsi:type="dcterms:W3CDTF">2026-06-05T09:11:26Z</dcterms:modified>
</cp:coreProperties>
</file>