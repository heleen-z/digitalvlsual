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4980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2024-2026 主流大语言模型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29844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数据处理与可视化分析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685800" y="2395728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横向比较不同模型，纵向观察同一系列进步；用图表把复杂表格数据变成可解释结论。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549640" y="868680"/>
            <a:ext cx="2514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50808" y="1051560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课程目标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50808" y="1380744"/>
            <a:ext cx="2112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数据收集、清洗、特征工程、可视化表达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549640" y="2286000"/>
            <a:ext cx="2514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50808" y="2468880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数据范围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750808" y="2798064"/>
            <a:ext cx="2112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71 个代表模型 · 17 个系列 · 截止 2026-06-05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549640" y="3703320"/>
            <a:ext cx="2514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50808" y="3886200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展示重点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50808" y="4215384"/>
            <a:ext cx="2112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横向对比、纵向趋势、相关性、帕累托权衡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为什么选择这个项目：复杂模型数据适合做可视化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342900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87452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数据问题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" y="2203704"/>
            <a:ext cx="30266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主流模型数量快速增加，参数量、发布时间、基准分、Elo、速度和延迟分散在不同来源，单看表格很难比较。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434840" y="1691640"/>
            <a:ext cx="342900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187452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课程价值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36008" y="2203704"/>
            <a:ext cx="30266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这个主题天然包含分类变量、连续变量、时间变量和缺失值，适合展示清洗、归一化、插补、横纵向对比等课程方法。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92440" y="1691640"/>
            <a:ext cx="342900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187452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展示目标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93608" y="2203704"/>
            <a:ext cx="30266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不是简单罗列模型，而是通过图表回答：谁更强、进步有多快、哪些指标更接近体验、哪些模型更适合部署。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56327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这页的重点：项目选题服务于数据可视化课程本身，因为它有足够复杂的数据结构，也能产出清楚的图表结论。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数据范围与字段设计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100584" cy="1005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9848" y="162763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时间范围：2024-01-01 至 2026-06-05，按发布日期和采集截止日组织。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313432"/>
            <a:ext cx="100584" cy="1005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9848" y="2249424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模型范围：17 个主流系列，每个系列保留多个代表版本，支持纵向趋势分析。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8680" y="2935224"/>
            <a:ext cx="100584" cy="1005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287121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核心字段：模型名、公司、系列、架构、训练范式、参数量、发布时间、基准分、Elo、吞吐、首字延迟。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68680" y="3557016"/>
            <a:ext cx="100584" cy="1005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9848" y="3493008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质量标记：保留 benchmark_observed、arena_observed、hardware_observed，区分实测与插补。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68680" y="4389120"/>
            <a:ext cx="1046988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4515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数据可视化课程对应点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498348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本项目不是追求爬取长尾全集，而是构造可比较、可解释、可展示的代表性数据表；字段设计直接服务于后续图表编码。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数据处理过程：从原始字段到可视化指标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74520"/>
            <a:ext cx="2450592" cy="2651760"/>
          </a:xfrm>
          <a:prstGeom prst="rect">
            <a:avLst/>
          </a:prstGeom>
          <a:solidFill>
            <a:srgbClr val="ECFDF5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121408"/>
            <a:ext cx="402336" cy="402336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字段统一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统一日期、系列、架构、训练范式和模型规模，保证横向比较口径一致。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3182112" y="3063240"/>
            <a:ext cx="347472" cy="347472"/>
          </a:xfrm>
          <a:prstGeom prst="chevron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11296" y="1874520"/>
            <a:ext cx="2450592" cy="2651760"/>
          </a:xfrm>
          <a:prstGeom prst="rect">
            <a:avLst/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12464" y="2121408"/>
            <a:ext cx="402336" cy="402336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67328" y="2743200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缺失处理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4612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保留观测标记；对 Elo、速度、延迟等缺失值用同系列均值和 KNN 插补。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6035040" y="3063240"/>
            <a:ext cx="347472" cy="347472"/>
          </a:xfrm>
          <a:prstGeom prst="chevron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64224" y="1874520"/>
            <a:ext cx="2450592" cy="2651760"/>
          </a:xfrm>
          <a:prstGeom prst="rect">
            <a:avLst/>
          </a:prstGeom>
          <a:solidFill>
            <a:srgbClr val="ECFDF5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65392" y="2121408"/>
            <a:ext cx="402336" cy="402336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620256" y="2743200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归一化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0256" y="324612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将 MMLU、GPQA、IFEval 等不同量纲投射到统一尺度，避免视觉权重失真。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8887968" y="3063240"/>
            <a:ext cx="347472" cy="347472"/>
          </a:xfrm>
          <a:prstGeom prst="chevron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17152" y="1874520"/>
            <a:ext cx="2450592" cy="2651760"/>
          </a:xfrm>
          <a:prstGeom prst="rect">
            <a:avLst/>
          </a:prstGeom>
          <a:solidFill>
            <a:srgbClr val="F1F5F9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0" y="2121408"/>
            <a:ext cx="402336" cy="402336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473184" y="2743200"/>
            <a:ext cx="1920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复合指标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473184" y="3246120"/>
            <a:ext cx="19385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构造 Average_Score、Composite_Score、Hardware_Pareto_Index，服务图表排序与筛选。</a:t>
            </a:r>
            <a:endParaRPr lang="en-US" sz="1320" dirty="0"/>
          </a:p>
        </p:txBody>
      </p:sp>
      <p:sp>
        <p:nvSpPr>
          <p:cNvPr id="24" name="Text 22"/>
          <p:cNvSpPr/>
          <p:nvPr/>
        </p:nvSpPr>
        <p:spPr>
          <a:xfrm>
            <a:off x="1005840" y="541324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课程重点：所有图表都不是装饰，而是建立在清洗、变换和指标构造之后的分析表达。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横向比较：主流模型能力气泡图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1_landscape_bub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每个点是一个模型，位置展示参数量和综合能力，颜色区分开放权重与闭源 API。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这是多变量散点图：X/Y/颜色/大小共同表达模型规模、能力、人类偏好和开放性。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不是所有大模型都必须很大才好用，一些中小模型也能在日常任务中表现顺手。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横向比较：头部系列代表模型排名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2_provider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每个模型系列取综合分最高的代表模型，用横条比较不同系列的位置。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这是排序条形图，适合表达类别之间的整体差异，比散点图更利于快速读排名。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使用者可以快速判断不同模型家族的大致水平，而不是陷入一长串表格。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纵向比较：同一系列模型的进步轨迹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3_series_pro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折线展示 GPT、Claude、Gemini、Llama、Qwen、DeepSeek 等系列随时间的能力变化。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这是时间序列可视化，回答同一系列模型是否持续进步、进步速度是否一致。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新版本常带来更少追问、更少返工，聊天、写作和编程体验会更连贯。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结构比较：架构生态与训练范式热力图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4_architecture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矩阵展示不同架构和训练方式组合下的平均综合能力。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这是分类变量与连续变量的联合编码，可以同时看结构分布和性能强弱。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模型进步不只是参数变大，也可能来自微调、蒸馏、MoE 和推理训练。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关系分析：客观基准与人类偏好相关矩阵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5_correlat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矩阵展示多个基准指标、Elo、速度和延迟之间的相关关系。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这是相关性热力图，用来判断哪些指标更接近真实偏好，哪些指标只是局部能力。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考试分数高不一定代表用起来最好，是否听懂要求、回复是否快也很重要。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权衡分析：本地部署帕累托图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pic>
        <p:nvPicPr>
          <p:cNvPr id="5" name="Image 0" descr="C:\Users\HBZuo\Desktop\wrokmean\数据可视化\dashboard\assets\figures\06_hardware_par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407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82128" y="1417320"/>
            <a:ext cx="3291840" cy="1243584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83296" y="160020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图中看到了什么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83296" y="1929384"/>
            <a:ext cx="28895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散点展示模型吞吐、首字延迟和能力之间的权衡，红线表示较优前沿。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82128" y="2834640"/>
            <a:ext cx="3291840" cy="141732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83296" y="30175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专业上说明什么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83296" y="3346704"/>
            <a:ext cx="28895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这是多目标权衡图，适合寻找高能力、低延迟、高吞吐的候选模型。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882128" y="4434840"/>
            <a:ext cx="32918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83296" y="4617720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生活中意味着什么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83296" y="4946904"/>
            <a:ext cx="28895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等待时间越短，长文总结、代码生成和资料整理越像连续协作。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数据处理与可视化课程项目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760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项目结论：可视化让模型数据从“复杂”变成“可解释”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02920" y="1161288"/>
            <a:ext cx="11155680" cy="0"/>
          </a:xfrm>
          <a:prstGeom prst="line">
            <a:avLst/>
          </a:prstGeom>
          <a:noFill/>
          <a:ln w="12700">
            <a:solidFill>
              <a:srgbClr val="D8E0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08760"/>
            <a:ext cx="3429000" cy="342900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69164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课程层面的收获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020824"/>
            <a:ext cx="3026664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通过同一项目串起数据收集、缺失处理、归一化、特征工程、视觉编码和图表解读，完整覆盖数据可视化课程的核心要求。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429000" cy="342900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4568" y="169164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数据分析层面的发现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44568" y="2020824"/>
            <a:ext cx="3026664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主流模型能力持续上升，开放权重模型追赶很快；但参数量、考试分数、Elo 和部署体验并不是同一个维度。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955280" y="1508760"/>
            <a:ext cx="3429000" cy="3429000"/>
          </a:xfrm>
          <a:prstGeom prst="rect">
            <a:avLst/>
          </a:prstGeom>
          <a:solidFill>
            <a:srgbClr val="F8FAFC"/>
          </a:solidFill>
          <a:ln w="12700">
            <a:solidFill>
              <a:srgbClr val="D8E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56448" y="1691640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直觉层面的理解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56448" y="2020824"/>
            <a:ext cx="3026664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32B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好的图表能把抽象指标翻译成真实感受：等多久、写得顺不顺、能否本地运行、成本是否可接受。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55321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6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最终意义：这个项目的重点不是展示模型有多强，而是展示如何用数据可视化方法把多维数据整理成可比较、可解释、可讨论的结论。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02920" y="6519672"/>
            <a:ext cx="10972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7A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主流大模型数据可视化分析 · 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数据处理与可视化课程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主流大模型数据可视化课程展示</dc:title>
  <dc:subject>2024-2026 主流大语言模型数据处理与可视化</dc:subject>
  <dc:creator>课程项目组</dc:creator>
  <cp:lastModifiedBy>课程项目组</cp:lastModifiedBy>
  <cp:revision>1</cp:revision>
  <dcterms:created xsi:type="dcterms:W3CDTF">2026-06-05T11:05:12Z</dcterms:created>
  <dcterms:modified xsi:type="dcterms:W3CDTF">2026-06-05T11:05:12Z</dcterms:modified>
</cp:coreProperties>
</file>